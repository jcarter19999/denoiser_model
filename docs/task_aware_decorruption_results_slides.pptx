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13816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100" b="1">
                <a:solidFill>
                  <a:srgbClr val="112541"/>
                </a:solidFill>
                <a:latin typeface="Aptos"/>
              </a:rPr>
              <a:t>Task-Aware Image Decorruption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658368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32A34"/>
                </a:solidFill>
                <a:latin typeface="Aptos"/>
              </a:rPr>
              <a:t>Can a learned restoration front end preserve the visual information that semantic segmentation needs in adverse driving conditions?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23160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9F94"/>
                </a:solidFill>
                <a:latin typeface="Aptos"/>
              </a:rPr>
              <a:t>Project 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16352"/>
            <a:ext cx="6492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Improve road-scene segmentation under rain, fog, snow, and nighttime conditions.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Compare raw input, classical enhancement, reconstruction-only restoration, and task-aware restoration.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Optimize not only for a visually clean image, but for downstream segmentation utility.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969264"/>
            <a:ext cx="3611880" cy="1298448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969264"/>
            <a:ext cx="91440" cy="129844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133856"/>
            <a:ext cx="3200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1572768"/>
            <a:ext cx="3200400" cy="5669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Adverse-condition driving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523744"/>
            <a:ext cx="3611880" cy="1298448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2523744"/>
            <a:ext cx="91440" cy="1298448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2688336"/>
            <a:ext cx="3200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Decorrupter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127248"/>
            <a:ext cx="3200400" cy="5669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Lightweight learned restoration front 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078224"/>
            <a:ext cx="3611880" cy="1298448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4078224"/>
            <a:ext cx="91440" cy="1298448"/>
          </a:xfrm>
          <a:prstGeom prst="rect">
            <a:avLst/>
          </a:prstGeom>
          <a:solidFill>
            <a:srgbClr val="EEB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4242816"/>
            <a:ext cx="3200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Frozen segmenter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681728"/>
            <a:ext cx="3200400" cy="5669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Evaluates whether restoration helps the target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42432"/>
            <a:ext cx="99669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B6774"/>
                </a:solidFill>
                <a:latin typeface="Aptos"/>
              </a:rPr>
              <a:t>Primary outcome: held-out semantic segmentation mIoU, supported by PSNR/SSIM and efficiency measures.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B6774"/>
                </a:solidFill>
                <a:latin typeface="Aptos"/>
              </a:rPr>
              <a:t>Task-Aware Image Decorruption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112541"/>
                </a:solidFill>
                <a:latin typeface="Aptos"/>
              </a:rPr>
              <a:t>Experiment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1234440" cy="54864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B6774"/>
                </a:solidFill>
                <a:latin typeface="Aptos"/>
              </a:rPr>
              <a:t>Current saved artifacts are one-epoch smoke tests: they validate the pipeline, not final comparative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520440" cy="1993392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91440" cy="199339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1"/>
            <a:ext cx="31089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Data and corruption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12264"/>
            <a:ext cx="3108960" cy="12618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Dataset: ACDC driving imagery
Input size: 256 x 512
Batch size: 1
Synthetic severity range: 0.25-0.80
Random seed: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08760"/>
            <a:ext cx="3520440" cy="1993392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508760"/>
            <a:ext cx="91440" cy="1993392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1089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Restoration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12264"/>
            <a:ext cx="3108960" cy="12618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Residual decorrupter
Base channels: 24
Residual scale: 0.25
1 epoch; learning rate: 2e-4
AMP + gradient clipping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508760"/>
            <a:ext cx="3520440" cy="1993392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508760"/>
            <a:ext cx="91440" cy="1993392"/>
          </a:xfrm>
          <a:prstGeom prst="rect">
            <a:avLst/>
          </a:prstGeom>
          <a:solidFill>
            <a:srgbClr val="EEB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673351"/>
            <a:ext cx="31089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Restoration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112264"/>
            <a:ext cx="3108960" cy="12618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L1 reconstruction: 1.00
SSIM: 0.25
Smoothness: 0.01
Smoke-test composite loss: 0.1363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13632"/>
            <a:ext cx="534924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13632"/>
            <a:ext cx="91440" cy="141732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78224"/>
            <a:ext cx="4937759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Segmentation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517136"/>
            <a:ext cx="4937759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SegFormer-B0, initialized from Cityscapes-pretrained weights; 19 classes. One-epoch smoke test: training loss 0.3749 and validation mIoU 0.4942.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913632"/>
            <a:ext cx="5385816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913632"/>
            <a:ext cx="91440" cy="1417320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78224"/>
            <a:ext cx="49743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Planned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517136"/>
            <a:ext cx="4974336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Hold the segmenter fixed while training restoration variants. Evaluate raw, classical, reconstruction-only, task-aware, and regularized task-aware methods on the same held-out 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69280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9E4C00"/>
                </a:solidFill>
                <a:latin typeface="Aptos"/>
              </a:rPr>
              <a:t>Interpretation guardrail: no task-aware checkpoint or shared-condition comparison is available yet, so improvement claims are premature.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B6774"/>
                </a:solidFill>
                <a:latin typeface="Aptos"/>
              </a:rPr>
              <a:t>Task-Aware Image Decorruption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112541"/>
                </a:solidFill>
                <a:latin typeface="Aptos"/>
              </a:rPr>
              <a:t>What the local loss landscape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1234440" cy="54864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B6774"/>
                </a:solidFill>
                <a:latin typeface="Aptos"/>
              </a:rPr>
              <a:t>Post-training reconstruction-loss slice around the restoration checkpoint</a:t>
            </a:r>
          </a:p>
        </p:txBody>
      </p:sp>
      <p:pic>
        <p:nvPicPr>
          <p:cNvPr id="5" name="Picture 4" descr="post_training_los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7406640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93024" y="1353312"/>
            <a:ext cx="3383280" cy="1234440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93024" y="1353312"/>
            <a:ext cx="91440" cy="123444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9056" y="1517904"/>
            <a:ext cx="29718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How it is computed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1956816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The model is perturbed along two normalized random parameter directions. At each grid point, the reconstruction objective is evaluated on a fixed synthetic batch.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788920"/>
            <a:ext cx="3383280" cy="1234440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93024" y="2788920"/>
            <a:ext cx="91440" cy="1234440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953512"/>
            <a:ext cx="29718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3392424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Purple/blue regions are lower loss; green/yellow regions are higher loss. The blue marker is the sampled global minimum; the red marker is the sampled global maximum.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4224528"/>
            <a:ext cx="3383280" cy="1234440"/>
          </a:xfrm>
          <a:prstGeom prst="roundRect">
            <a:avLst/>
          </a:prstGeom>
          <a:solidFill>
            <a:srgbClr val="EFF6FA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4224528"/>
            <a:ext cx="91440" cy="1234440"/>
          </a:xfrm>
          <a:prstGeom prst="rect">
            <a:avLst/>
          </a:prstGeom>
          <a:solidFill>
            <a:srgbClr val="EEB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4389120"/>
            <a:ext cx="29718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12541"/>
                </a:solidFill>
                <a:latin typeface="Aptos"/>
              </a:rPr>
              <a:t>What this plot suggests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4828032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32A34"/>
                </a:solidFill>
                <a:latin typeface="Aptos"/>
              </a:rPr>
              <a:t>The sampled neighborhood contains a broad low-loss basin, with sharper increases toward the edges and one localized high-loss region. This is a local diagnostic, not a proof of global optimality or generalization.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65192"/>
            <a:ext cx="726948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B6774"/>
                </a:solidFill>
                <a:latin typeface="Aptos"/>
              </a:rPr>
              <a:t>Observed sampled loss range: approximately 0.058 to 0.096. Directions 1 and 2 are abstract parameter-space directions, not image features or input axes.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B6774"/>
                </a:solidFill>
                <a:latin typeface="Aptos"/>
              </a:rPr>
              <a:t>Task-Aware Image Decorruption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112541"/>
                </a:solidFill>
                <a:latin typeface="Aptos"/>
              </a:rPr>
              <a:t>Takeaway and next experiment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1234440" cy="54864"/>
          </a:xfrm>
          <a:prstGeom prst="rect">
            <a:avLst/>
          </a:prstGeom>
          <a:solidFill>
            <a:srgbClr val="1F9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B6774"/>
                </a:solidFill>
                <a:latin typeface="Aptos"/>
              </a:rPr>
              <a:t>The infrastructure is working; the scientific comparison is the next milestone.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112541"/>
                </a:solidFill>
                <a:latin typeface="Aptos"/>
              </a:rPr>
              <a:t>What has been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47088"/>
            <a:ext cx="5440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End-to-end segmenter and reconstruction training, checkpointing, and visualization are operational.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The local loss surface provides a repeatable view of optimization behavior around a trained checkpoint.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Recorded reconstruction, activation, and loss-landscape animations are available for qualitative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112541"/>
                </a:solidFill>
                <a:latin typeface="Aptos"/>
              </a:rPr>
              <a:t>What is still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47088"/>
            <a:ext cx="4983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Train the reconstruction-only and task-aware variants to convergence.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Run every method on the same held-out adverse-condition images.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Report mIoU overall/by class/by condition, PSNR/SSIM, and runtime tradeoffs.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120640"/>
            <a:ext cx="10149840" cy="713232"/>
          </a:xfrm>
          <a:prstGeom prst="roundRect">
            <a:avLst/>
          </a:prstGeom>
          <a:solidFill>
            <a:srgbClr val="11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5303520"/>
            <a:ext cx="96469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Decision criterion: task-aware decorruption is successful only if it improves held-out segmentation quality while retaining acceptable visual quality and latency.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B6774"/>
                </a:solidFill>
                <a:latin typeface="Aptos"/>
              </a:rPr>
              <a:t>Task-Aware Image Decorruption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